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5257799" y="2456179"/>
            <a:ext cx="3749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1F3D2B"/>
                </a:solidFill>
              </a:defRPr>
            </a:lvl1pPr>
          </a:lstStyle>
          <a:p>
            <a:pPr/>
            <a:r>
              <a:t>Logo Photo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48639" y="1465579"/>
            <a:ext cx="43891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B7894F"/>
                </a:solidFill>
              </a:defRPr>
            </a:lvl1pPr>
          </a:lstStyle>
          <a:p>
            <a:pPr/>
            <a:r>
              <a:t>Chandan Mehta Wellbeing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48639" y="1802129"/>
            <a:ext cx="4389122" cy="133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Homepage flow: from first glance to first conversation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48639" y="3458209"/>
            <a:ext cx="4389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A8B89A"/>
                </a:solidFill>
              </a:defRPr>
            </a:lvl1pPr>
          </a:lstStyle>
          <a:p>
            <a:pPr/>
            <a:r>
              <a:t>Design walkthrough and image direction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 txBox="1"/>
          <p:nvPr/>
        </p:nvSpPr>
        <p:spPr>
          <a:xfrm>
            <a:off x="457200" y="26035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B7894F"/>
                </a:solidFill>
              </a:defRPr>
            </a:lvl1pPr>
          </a:lstStyle>
          <a:p>
            <a:pPr/>
            <a:r>
              <a:t>1 · FIRST FIVE SECONDS</a:t>
            </a:r>
          </a:p>
        </p:txBody>
      </p:sp>
      <p:sp>
        <p:nvSpPr>
          <p:cNvPr id="27" name="Text 1"/>
          <p:cNvSpPr txBox="1"/>
          <p:nvPr/>
        </p:nvSpPr>
        <p:spPr>
          <a:xfrm>
            <a:off x="457200" y="560069"/>
            <a:ext cx="8229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Arrive: Includes a header, hero image and credibility</a:t>
            </a:r>
          </a:p>
        </p:txBody>
      </p:sp>
      <p:sp>
        <p:nvSpPr>
          <p:cNvPr id="28" name="Shape 2"/>
          <p:cNvSpPr/>
          <p:nvPr/>
        </p:nvSpPr>
        <p:spPr>
          <a:xfrm>
            <a:off x="457200" y="1188719"/>
            <a:ext cx="4754880" cy="36576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3"/>
          <p:cNvSpPr txBox="1"/>
          <p:nvPr/>
        </p:nvSpPr>
        <p:spPr>
          <a:xfrm>
            <a:off x="548639" y="1289049"/>
            <a:ext cx="7315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F3D2B"/>
                </a:solidFill>
              </a:defRPr>
            </a:lvl1pPr>
          </a:lstStyle>
          <a:p>
            <a:pPr/>
            <a:r>
              <a:t>Logo</a:t>
            </a:r>
          </a:p>
        </p:txBody>
      </p:sp>
      <p:sp>
        <p:nvSpPr>
          <p:cNvPr id="30" name="Text 4"/>
          <p:cNvSpPr txBox="1"/>
          <p:nvPr/>
        </p:nvSpPr>
        <p:spPr>
          <a:xfrm>
            <a:off x="1188720" y="1308099"/>
            <a:ext cx="28346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2B2B2B"/>
                </a:solidFill>
              </a:defRPr>
            </a:lvl1pPr>
          </a:lstStyle>
          <a:p>
            <a:pPr/>
            <a:r>
              <a:t>WORK TOGETHER  |Rooted Practices  |  TM  |  ABOUT ME</a:t>
            </a:r>
          </a:p>
        </p:txBody>
      </p:sp>
      <p:sp>
        <p:nvSpPr>
          <p:cNvPr id="31" name="Shape 5"/>
          <p:cNvSpPr/>
          <p:nvPr/>
        </p:nvSpPr>
        <p:spPr>
          <a:xfrm>
            <a:off x="4114800" y="1243583"/>
            <a:ext cx="1005840" cy="256033"/>
          </a:xfrm>
          <a:prstGeom prst="roundRect">
            <a:avLst>
              <a:gd name="adj" fmla="val 17857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6"/>
          <p:cNvSpPr txBox="1"/>
          <p:nvPr/>
        </p:nvSpPr>
        <p:spPr>
          <a:xfrm>
            <a:off x="4114800" y="1308099"/>
            <a:ext cx="10058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GET IN TOUCH</a:t>
            </a:r>
          </a:p>
        </p:txBody>
      </p:sp>
      <p:sp>
        <p:nvSpPr>
          <p:cNvPr id="33" name="Shape 7"/>
          <p:cNvSpPr/>
          <p:nvPr/>
        </p:nvSpPr>
        <p:spPr>
          <a:xfrm>
            <a:off x="457200" y="1554480"/>
            <a:ext cx="4754880" cy="1920240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8"/>
          <p:cNvSpPr txBox="1"/>
          <p:nvPr/>
        </p:nvSpPr>
        <p:spPr>
          <a:xfrm>
            <a:off x="594360" y="2329180"/>
            <a:ext cx="44805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1F3D2B"/>
                </a:solidFill>
              </a:defRPr>
            </a:lvl1pPr>
          </a:lstStyle>
          <a:p>
            <a:pPr/>
            <a:r>
              <a:t>PHOTO</a:t>
            </a:r>
          </a:p>
        </p:txBody>
      </p:sp>
      <p:sp>
        <p:nvSpPr>
          <p:cNvPr id="35" name="Text 9"/>
          <p:cNvSpPr txBox="1"/>
          <p:nvPr/>
        </p:nvSpPr>
        <p:spPr>
          <a:xfrm>
            <a:off x="640079" y="2828581"/>
            <a:ext cx="438912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Your anchor for a steadier, fuller life.</a:t>
            </a:r>
          </a:p>
        </p:txBody>
      </p:sp>
      <p:sp>
        <p:nvSpPr>
          <p:cNvPr id="36" name="Shape 10"/>
          <p:cNvSpPr/>
          <p:nvPr/>
        </p:nvSpPr>
        <p:spPr>
          <a:xfrm>
            <a:off x="457200" y="3474720"/>
            <a:ext cx="4754880" cy="822961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1"/>
          <p:cNvSpPr txBox="1"/>
          <p:nvPr/>
        </p:nvSpPr>
        <p:spPr>
          <a:xfrm>
            <a:off x="594360" y="3721100"/>
            <a:ext cx="44805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6F1E7"/>
                </a:solidFill>
              </a:defRPr>
            </a:lvl1pPr>
          </a:lstStyle>
          <a:p>
            <a:pPr/>
            <a:r>
              <a:t>Two decades in corporate India. The only certified female TM teacher in Maharashtra.  (Explore Working Together )</a:t>
            </a:r>
          </a:p>
        </p:txBody>
      </p:sp>
      <p:sp>
        <p:nvSpPr>
          <p:cNvPr id="38" name="Text 12"/>
          <p:cNvSpPr txBox="1"/>
          <p:nvPr/>
        </p:nvSpPr>
        <p:spPr>
          <a:xfrm>
            <a:off x="5577840" y="1414779"/>
            <a:ext cx="31089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</a:defRPr>
            </a:pPr>
            <a:r>
              <a:t>Header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Logo left, menu right. Get in Touch is the one highlighted button.</a:t>
            </a:r>
          </a:p>
        </p:txBody>
      </p:sp>
      <p:sp>
        <p:nvSpPr>
          <p:cNvPr id="39" name="Text 13"/>
          <p:cNvSpPr txBox="1"/>
          <p:nvPr/>
        </p:nvSpPr>
        <p:spPr>
          <a:xfrm>
            <a:off x="5577840" y="2512060"/>
            <a:ext cx="31089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</a:defRPr>
            </a:pPr>
            <a:r>
              <a:t>Hero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Image first. Four short lines carry the idea of rooted, calm, spacious.</a:t>
            </a:r>
          </a:p>
        </p:txBody>
      </p:sp>
      <p:sp>
        <p:nvSpPr>
          <p:cNvPr id="40" name="Text 14"/>
          <p:cNvSpPr txBox="1"/>
          <p:nvPr/>
        </p:nvSpPr>
        <p:spPr>
          <a:xfrm>
            <a:off x="5577840" y="3609339"/>
            <a:ext cx="31089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</a:defRPr>
            </a:pPr>
            <a:r>
              <a:t>Credibility strip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Attached to the hero, so trust builds before the first scroll.</a:t>
            </a:r>
          </a:p>
        </p:txBody>
      </p:sp>
      <p:sp>
        <p:nvSpPr>
          <p:cNvPr id="41" name="Text 15"/>
          <p:cNvSpPr txBox="1"/>
          <p:nvPr/>
        </p:nvSpPr>
        <p:spPr>
          <a:xfrm>
            <a:off x="457200" y="471805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5A5A"/>
                </a:solidFill>
              </a:defRPr>
            </a:lvl1pPr>
          </a:lstStyle>
          <a:p>
            <a:pPr/>
            <a:r>
              <a:t>Say: "The visitor should feel the idea before reading it."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 txBox="1"/>
          <p:nvPr/>
        </p:nvSpPr>
        <p:spPr>
          <a:xfrm>
            <a:off x="457200" y="26035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B7894F"/>
                </a:solidFill>
              </a:defRPr>
            </a:lvl1pPr>
          </a:lstStyle>
          <a:p>
            <a:pPr/>
            <a:r>
              <a:t>2 · SELF-SELECTION</a:t>
            </a:r>
          </a:p>
        </p:txBody>
      </p:sp>
      <p:sp>
        <p:nvSpPr>
          <p:cNvPr id="44" name="Text 1"/>
          <p:cNvSpPr txBox="1"/>
          <p:nvPr/>
        </p:nvSpPr>
        <p:spPr>
          <a:xfrm>
            <a:off x="457200" y="560069"/>
            <a:ext cx="8229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 Who I work with</a:t>
            </a:r>
          </a:p>
        </p:txBody>
      </p:sp>
      <p:sp>
        <p:nvSpPr>
          <p:cNvPr id="45" name="Shape 2"/>
          <p:cNvSpPr/>
          <p:nvPr/>
        </p:nvSpPr>
        <p:spPr>
          <a:xfrm>
            <a:off x="457199" y="1143000"/>
            <a:ext cx="1965962" cy="1005839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4"/>
          <p:cNvSpPr/>
          <p:nvPr/>
        </p:nvSpPr>
        <p:spPr>
          <a:xfrm>
            <a:off x="457199" y="2148839"/>
            <a:ext cx="1965962" cy="233172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5"/>
          <p:cNvSpPr txBox="1"/>
          <p:nvPr/>
        </p:nvSpPr>
        <p:spPr>
          <a:xfrm>
            <a:off x="548640" y="2212848"/>
            <a:ext cx="1783079" cy="177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Hospitality, Wellbeing &amp; Living Spaces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Together, we design a stay where mornings begin with breath and yoga, the mind settles through meditation,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and nourishing evenings leave guests truly rested.</a:t>
            </a:r>
            <a:br/>
            <a:br/>
          </a:p>
        </p:txBody>
      </p:sp>
      <p:sp>
        <p:nvSpPr>
          <p:cNvPr id="48" name="Shape 6"/>
          <p:cNvSpPr/>
          <p:nvPr/>
        </p:nvSpPr>
        <p:spPr>
          <a:xfrm>
            <a:off x="2560320" y="1143000"/>
            <a:ext cx="1965961" cy="1005839"/>
          </a:xfrm>
          <a:prstGeom prst="rect">
            <a:avLst/>
          </a:prstGeom>
          <a:solidFill>
            <a:srgbClr val="C9D3BC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7"/>
          <p:cNvSpPr txBox="1"/>
          <p:nvPr/>
        </p:nvSpPr>
        <p:spPr>
          <a:xfrm>
            <a:off x="2697480" y="1530349"/>
            <a:ext cx="1691640" cy="2311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</a:p>
        </p:txBody>
      </p:sp>
      <p:sp>
        <p:nvSpPr>
          <p:cNvPr id="50" name="Shape 8"/>
          <p:cNvSpPr/>
          <p:nvPr/>
        </p:nvSpPr>
        <p:spPr>
          <a:xfrm>
            <a:off x="2560320" y="2148839"/>
            <a:ext cx="1965961" cy="233172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9"/>
          <p:cNvSpPr txBox="1"/>
          <p:nvPr/>
        </p:nvSpPr>
        <p:spPr>
          <a:xfrm>
            <a:off x="2651760" y="2212848"/>
            <a:ext cx="1783080" cy="16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Organisations &amp; Institutions</a:t>
            </a:r>
          </a:p>
          <a:p>
            <a:pPr>
              <a:defRPr sz="1200">
                <a:solidFill>
                  <a:srgbClr val="2B2B2B"/>
                </a:solidFill>
              </a:defRPr>
            </a:pPr>
            <a:r>
              <a:t>Practical wellbeing programmes, from a single session to a full retreat, shaped around your people and led personally, so the practices stay with them long after the session.</a:t>
            </a:r>
          </a:p>
        </p:txBody>
      </p:sp>
      <p:sp>
        <p:nvSpPr>
          <p:cNvPr id="52" name="Shape 10"/>
          <p:cNvSpPr/>
          <p:nvPr/>
        </p:nvSpPr>
        <p:spPr>
          <a:xfrm>
            <a:off x="4663440" y="1143000"/>
            <a:ext cx="1965961" cy="1005839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12"/>
          <p:cNvSpPr/>
          <p:nvPr/>
        </p:nvSpPr>
        <p:spPr>
          <a:xfrm>
            <a:off x="4663440" y="2148839"/>
            <a:ext cx="1965961" cy="233172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3"/>
          <p:cNvSpPr txBox="1"/>
          <p:nvPr/>
        </p:nvSpPr>
        <p:spPr>
          <a:xfrm>
            <a:off x="4754879" y="2212848"/>
            <a:ext cx="1783080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Networks &amp; Member Communities</a:t>
            </a:r>
          </a:p>
          <a:p>
            <a:pPr>
              <a:defRPr sz="1200">
                <a:solidFill>
                  <a:srgbClr val="2B2B2B"/>
                </a:solidFill>
              </a:defRPr>
            </a:pPr>
            <a:r>
              <a:t>Shared experiences that bring members together around something that truly nourishes them.</a:t>
            </a:r>
          </a:p>
        </p:txBody>
      </p:sp>
      <p:sp>
        <p:nvSpPr>
          <p:cNvPr id="55" name="Shape 14"/>
          <p:cNvSpPr/>
          <p:nvPr/>
        </p:nvSpPr>
        <p:spPr>
          <a:xfrm>
            <a:off x="6766559" y="1143000"/>
            <a:ext cx="1965961" cy="1005839"/>
          </a:xfrm>
          <a:prstGeom prst="rect">
            <a:avLst/>
          </a:prstGeom>
          <a:solidFill>
            <a:srgbClr val="C9D3BC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16"/>
          <p:cNvSpPr/>
          <p:nvPr/>
        </p:nvSpPr>
        <p:spPr>
          <a:xfrm>
            <a:off x="6766559" y="2148839"/>
            <a:ext cx="1965961" cy="233172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7"/>
          <p:cNvSpPr txBox="1"/>
          <p:nvPr/>
        </p:nvSpPr>
        <p:spPr>
          <a:xfrm>
            <a:off x="6858000" y="2212848"/>
            <a:ext cx="178307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Leaders &amp; Individuals</a:t>
            </a:r>
          </a:p>
          <a:p>
            <a:pPr>
              <a:defRPr sz="1200">
                <a:solidFill>
                  <a:srgbClr val="2B2B2B"/>
                </a:solidFill>
              </a:defRPr>
            </a:pPr>
            <a:r>
              <a:t>A guided path back to your own rhythm, with better sleep, less stress and a steadier mind.</a:t>
            </a:r>
          </a:p>
        </p:txBody>
      </p:sp>
      <p:sp>
        <p:nvSpPr>
          <p:cNvPr id="58" name="Text 18"/>
          <p:cNvSpPr txBox="1"/>
          <p:nvPr/>
        </p:nvSpPr>
        <p:spPr>
          <a:xfrm>
            <a:off x="457200" y="471805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5A5A"/>
                </a:solidFill>
              </a:defRPr>
            </a:lvl1pPr>
          </a:lstStyle>
          <a:p>
            <a:pPr/>
            <a:r>
              <a:t>Say: "Four audiences, four headings. The intro sentence stays light so the headings lead."</a:t>
            </a:r>
          </a:p>
        </p:txBody>
      </p:sp>
      <p:pic>
        <p:nvPicPr>
          <p:cNvPr id="59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0" t="0" r="0" b="9862"/>
          <a:stretch>
            <a:fillRect/>
          </a:stretch>
        </p:blipFill>
        <p:spPr>
          <a:xfrm>
            <a:off x="2553969" y="1099841"/>
            <a:ext cx="1978541" cy="109233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Image" descr="Image"/>
          <p:cNvPicPr>
            <a:picLocks noChangeAspect="1"/>
          </p:cNvPicPr>
          <p:nvPr/>
        </p:nvPicPr>
        <p:blipFill>
          <a:blip r:embed="rId3">
            <a:extLst/>
          </a:blip>
          <a:srcRect l="0" t="10130" r="0" b="10130"/>
          <a:stretch>
            <a:fillRect/>
          </a:stretch>
        </p:blipFill>
        <p:spPr>
          <a:xfrm>
            <a:off x="4666615" y="1117054"/>
            <a:ext cx="1978661" cy="1052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0" t="9022" r="0" b="9022"/>
          <a:stretch>
            <a:fillRect/>
          </a:stretch>
        </p:blipFill>
        <p:spPr>
          <a:xfrm>
            <a:off x="6779418" y="1112887"/>
            <a:ext cx="1940243" cy="10610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457200" y="26035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B7894F"/>
                </a:solidFill>
              </a:defRPr>
            </a:lvl1pPr>
          </a:lstStyle>
          <a:p>
            <a:pPr/>
            <a:r>
              <a:t>3 · THREE FULL-WIDTH SECTIONS</a:t>
            </a:r>
          </a:p>
        </p:txBody>
      </p:sp>
      <p:sp>
        <p:nvSpPr>
          <p:cNvPr id="64" name="Text 1"/>
          <p:cNvSpPr txBox="1"/>
          <p:nvPr/>
        </p:nvSpPr>
        <p:spPr>
          <a:xfrm>
            <a:off x="457200" y="560069"/>
            <a:ext cx="8229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we can work together</a:t>
            </a:r>
          </a:p>
        </p:txBody>
      </p:sp>
      <p:sp>
        <p:nvSpPr>
          <p:cNvPr id="65" name="Shape 2"/>
          <p:cNvSpPr/>
          <p:nvPr/>
        </p:nvSpPr>
        <p:spPr>
          <a:xfrm>
            <a:off x="457199" y="1188719"/>
            <a:ext cx="2651762" cy="1097281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3"/>
          <p:cNvSpPr txBox="1"/>
          <p:nvPr/>
        </p:nvSpPr>
        <p:spPr>
          <a:xfrm>
            <a:off x="594359" y="1539240"/>
            <a:ext cx="23774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Tree root system</a:t>
            </a:r>
          </a:p>
        </p:txBody>
      </p:sp>
      <p:sp>
        <p:nvSpPr>
          <p:cNvPr id="67" name="Shape 4"/>
          <p:cNvSpPr/>
          <p:nvPr/>
        </p:nvSpPr>
        <p:spPr>
          <a:xfrm>
            <a:off x="457199" y="2286000"/>
            <a:ext cx="2651762" cy="1005839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5"/>
          <p:cNvSpPr txBox="1"/>
          <p:nvPr/>
        </p:nvSpPr>
        <p:spPr>
          <a:xfrm>
            <a:off x="504507" y="2336800"/>
            <a:ext cx="2557146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Strategic Wellbeing Partnership</a:t>
            </a:r>
          </a:p>
          <a:p>
            <a:pPr defTabSz="457200"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 work with your leadership to build wellbeing into the heart of your organisation or space, not as another programme, but as the way you operate.</a:t>
            </a:r>
          </a:p>
        </p:txBody>
      </p:sp>
      <p:sp>
        <p:nvSpPr>
          <p:cNvPr id="69" name="Shape 6"/>
          <p:cNvSpPr/>
          <p:nvPr/>
        </p:nvSpPr>
        <p:spPr>
          <a:xfrm>
            <a:off x="3246120" y="1188719"/>
            <a:ext cx="2651761" cy="1097281"/>
          </a:xfrm>
          <a:prstGeom prst="rect">
            <a:avLst/>
          </a:prstGeom>
          <a:solidFill>
            <a:srgbClr val="C9D3BC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7"/>
          <p:cNvSpPr txBox="1"/>
          <p:nvPr/>
        </p:nvSpPr>
        <p:spPr>
          <a:xfrm>
            <a:off x="3383279" y="1539240"/>
            <a:ext cx="237744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Branches reaching up</a:t>
            </a:r>
          </a:p>
        </p:txBody>
      </p:sp>
      <p:sp>
        <p:nvSpPr>
          <p:cNvPr id="71" name="Shape 8"/>
          <p:cNvSpPr/>
          <p:nvPr/>
        </p:nvSpPr>
        <p:spPr>
          <a:xfrm>
            <a:off x="3246120" y="2286000"/>
            <a:ext cx="2651761" cy="1005839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9"/>
          <p:cNvSpPr txBox="1"/>
          <p:nvPr/>
        </p:nvSpPr>
        <p:spPr>
          <a:xfrm>
            <a:off x="3337559" y="2382520"/>
            <a:ext cx="246888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Curated Wellbeing Engagement</a:t>
            </a:r>
            <a:endParaRPr sz="1200"/>
          </a:p>
          <a:p>
            <a:pPr>
              <a:defRPr sz="1100">
                <a:solidFill>
                  <a:srgbClr val="2B2B2B"/>
                </a:solidFill>
              </a:defRPr>
            </a:pPr>
            <a:r>
              <a:t>I design and lead wellbeing sessions, programmes and retreats around your people, so they learn practices they can use every day.</a:t>
            </a:r>
          </a:p>
        </p:txBody>
      </p:sp>
      <p:sp>
        <p:nvSpPr>
          <p:cNvPr id="73" name="Shape 10"/>
          <p:cNvSpPr/>
          <p:nvPr/>
        </p:nvSpPr>
        <p:spPr>
          <a:xfrm>
            <a:off x="6035040" y="1188719"/>
            <a:ext cx="2651761" cy="1097281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1"/>
          <p:cNvSpPr txBox="1"/>
          <p:nvPr/>
        </p:nvSpPr>
        <p:spPr>
          <a:xfrm>
            <a:off x="6172199" y="1539240"/>
            <a:ext cx="237744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Single leaf with dew</a:t>
            </a:r>
          </a:p>
        </p:txBody>
      </p:sp>
      <p:sp>
        <p:nvSpPr>
          <p:cNvPr id="75" name="Shape 12"/>
          <p:cNvSpPr/>
          <p:nvPr/>
        </p:nvSpPr>
        <p:spPr>
          <a:xfrm>
            <a:off x="6035040" y="2286000"/>
            <a:ext cx="2651761" cy="1005839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3"/>
          <p:cNvSpPr txBox="1"/>
          <p:nvPr/>
        </p:nvSpPr>
        <p:spPr>
          <a:xfrm>
            <a:off x="6126479" y="2344420"/>
            <a:ext cx="246888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Personal Wellbeing Journey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 guide you personally through 12 sessions over four months, shaped around your life, your pressures and your goals.</a:t>
            </a:r>
          </a:p>
        </p:txBody>
      </p:sp>
      <p:sp>
        <p:nvSpPr>
          <p:cNvPr id="77" name="Text 14"/>
          <p:cNvSpPr txBox="1"/>
          <p:nvPr/>
        </p:nvSpPr>
        <p:spPr>
          <a:xfrm>
            <a:off x="457200" y="3460750"/>
            <a:ext cx="3657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B7894F"/>
                </a:solidFill>
              </a:defRPr>
            </a:lvl1pPr>
          </a:lstStyle>
          <a:p>
            <a:pPr/>
            <a:r>
              <a:t>How the partnership unfolds</a:t>
            </a:r>
          </a:p>
        </p:txBody>
      </p:sp>
      <p:sp>
        <p:nvSpPr>
          <p:cNvPr id="78" name="Shape 15"/>
          <p:cNvSpPr/>
          <p:nvPr/>
        </p:nvSpPr>
        <p:spPr>
          <a:xfrm>
            <a:off x="457200" y="3703320"/>
            <a:ext cx="1298448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6"/>
          <p:cNvSpPr txBox="1"/>
          <p:nvPr/>
        </p:nvSpPr>
        <p:spPr>
          <a:xfrm>
            <a:off x="457200" y="3816350"/>
            <a:ext cx="129844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UNDERSTAND</a:t>
            </a:r>
          </a:p>
        </p:txBody>
      </p:sp>
      <p:sp>
        <p:nvSpPr>
          <p:cNvPr id="80" name="Shape 17"/>
          <p:cNvSpPr/>
          <p:nvPr/>
        </p:nvSpPr>
        <p:spPr>
          <a:xfrm>
            <a:off x="1847088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18"/>
          <p:cNvSpPr txBox="1"/>
          <p:nvPr/>
        </p:nvSpPr>
        <p:spPr>
          <a:xfrm>
            <a:off x="1847088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ARCHITECT</a:t>
            </a:r>
          </a:p>
        </p:txBody>
      </p:sp>
      <p:sp>
        <p:nvSpPr>
          <p:cNvPr id="82" name="Shape 19"/>
          <p:cNvSpPr/>
          <p:nvPr/>
        </p:nvSpPr>
        <p:spPr>
          <a:xfrm>
            <a:off x="3236976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20"/>
          <p:cNvSpPr txBox="1"/>
          <p:nvPr/>
        </p:nvSpPr>
        <p:spPr>
          <a:xfrm>
            <a:off x="3236976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CURATE</a:t>
            </a:r>
          </a:p>
        </p:txBody>
      </p:sp>
      <p:sp>
        <p:nvSpPr>
          <p:cNvPr id="84" name="Shape 21"/>
          <p:cNvSpPr/>
          <p:nvPr/>
        </p:nvSpPr>
        <p:spPr>
          <a:xfrm>
            <a:off x="4626864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2"/>
          <p:cNvSpPr txBox="1"/>
          <p:nvPr/>
        </p:nvSpPr>
        <p:spPr>
          <a:xfrm>
            <a:off x="4626864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IMPLEMENT</a:t>
            </a:r>
          </a:p>
        </p:txBody>
      </p:sp>
      <p:sp>
        <p:nvSpPr>
          <p:cNvPr id="86" name="Shape 23"/>
          <p:cNvSpPr/>
          <p:nvPr/>
        </p:nvSpPr>
        <p:spPr>
          <a:xfrm>
            <a:off x="6016752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24"/>
          <p:cNvSpPr txBox="1"/>
          <p:nvPr/>
        </p:nvSpPr>
        <p:spPr>
          <a:xfrm>
            <a:off x="6016752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INTEGRATE</a:t>
            </a:r>
          </a:p>
        </p:txBody>
      </p:sp>
      <p:sp>
        <p:nvSpPr>
          <p:cNvPr id="88" name="Shape 25"/>
          <p:cNvSpPr/>
          <p:nvPr/>
        </p:nvSpPr>
        <p:spPr>
          <a:xfrm>
            <a:off x="7406640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26"/>
          <p:cNvSpPr txBox="1"/>
          <p:nvPr/>
        </p:nvSpPr>
        <p:spPr>
          <a:xfrm>
            <a:off x="7406640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EVOLVE</a:t>
            </a:r>
          </a:p>
        </p:txBody>
      </p:sp>
      <p:sp>
        <p:nvSpPr>
          <p:cNvPr id="90" name="Text 27"/>
          <p:cNvSpPr txBox="1"/>
          <p:nvPr/>
        </p:nvSpPr>
        <p:spPr>
          <a:xfrm>
            <a:off x="457200" y="471805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5A5A"/>
                </a:solidFill>
              </a:defRPr>
            </a:lvl1pPr>
          </a:lstStyle>
          <a:p>
            <a:pPr/>
            <a:r>
              <a:t>Say: "Each tile scrolls to its own full-width section. Testimonials sit right after the claim they support, and all copy stays visible."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 txBox="1"/>
          <p:nvPr/>
        </p:nvSpPr>
        <p:spPr>
          <a:xfrm>
            <a:off x="457200" y="26035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B7894F"/>
                </a:solidFill>
              </a:defRPr>
            </a:lvl1pPr>
          </a:lstStyle>
          <a:p>
            <a:pPr/>
            <a:r>
              <a:t>4 · THE APPROACH</a:t>
            </a:r>
          </a:p>
        </p:txBody>
      </p:sp>
      <p:sp>
        <p:nvSpPr>
          <p:cNvPr id="93" name="Text 1"/>
          <p:cNvSpPr txBox="1"/>
          <p:nvPr/>
        </p:nvSpPr>
        <p:spPr>
          <a:xfrm>
            <a:off x="457200" y="560069"/>
            <a:ext cx="8229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Understand: the four approaches</a:t>
            </a:r>
          </a:p>
        </p:txBody>
      </p:sp>
      <p:sp>
        <p:nvSpPr>
          <p:cNvPr id="94" name="Shape 2"/>
          <p:cNvSpPr/>
          <p:nvPr/>
        </p:nvSpPr>
        <p:spPr>
          <a:xfrm>
            <a:off x="457199" y="1188719"/>
            <a:ext cx="1737362" cy="1508761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"/>
          <p:cNvSpPr txBox="1"/>
          <p:nvPr/>
        </p:nvSpPr>
        <p:spPr>
          <a:xfrm>
            <a:off x="594359" y="1579880"/>
            <a:ext cx="146304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Her practising or teaching, or a seated figure by a river</a:t>
            </a:r>
          </a:p>
        </p:txBody>
      </p:sp>
      <p:sp>
        <p:nvSpPr>
          <p:cNvPr id="96" name="Shape 4"/>
          <p:cNvSpPr/>
          <p:nvPr/>
        </p:nvSpPr>
        <p:spPr>
          <a:xfrm>
            <a:off x="2194559" y="1188719"/>
            <a:ext cx="2103122" cy="150876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5"/>
          <p:cNvSpPr txBox="1"/>
          <p:nvPr/>
        </p:nvSpPr>
        <p:spPr>
          <a:xfrm>
            <a:off x="2286000" y="1612900"/>
            <a:ext cx="192024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Applied Yogic Science &amp; Pranayama</a:t>
            </a:r>
          </a:p>
          <a:p>
            <a:pPr>
              <a:defRPr sz="900">
                <a:solidFill>
                  <a:srgbClr val="7A7A7A"/>
                </a:solidFill>
              </a:defRPr>
            </a:pPr>
            <a:r>
              <a:t>Kaivalyadhama</a:t>
            </a:r>
            <a:endParaRPr sz="1200"/>
          </a:p>
          <a:p>
            <a:pPr>
              <a:defRPr b="1" sz="1000">
                <a:solidFill>
                  <a:srgbClr val="B7894F"/>
                </a:solidFill>
              </a:defRPr>
            </a:pPr>
            <a:r>
              <a:t>Explore →</a:t>
            </a:r>
          </a:p>
        </p:txBody>
      </p:sp>
      <p:sp>
        <p:nvSpPr>
          <p:cNvPr id="98" name="Shape 6"/>
          <p:cNvSpPr/>
          <p:nvPr/>
        </p:nvSpPr>
        <p:spPr>
          <a:xfrm>
            <a:off x="4663440" y="1188719"/>
            <a:ext cx="1737361" cy="1508761"/>
          </a:xfrm>
          <a:prstGeom prst="rect">
            <a:avLst/>
          </a:prstGeom>
          <a:solidFill>
            <a:srgbClr val="C9D3BC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7"/>
          <p:cNvSpPr txBox="1"/>
          <p:nvPr/>
        </p:nvSpPr>
        <p:spPr>
          <a:xfrm>
            <a:off x="4800599" y="1579880"/>
            <a:ext cx="1463041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Fresh herbs, seasonal produce, leafy garden in natural light</a:t>
            </a:r>
          </a:p>
        </p:txBody>
      </p:sp>
      <p:sp>
        <p:nvSpPr>
          <p:cNvPr id="100" name="Shape 8"/>
          <p:cNvSpPr/>
          <p:nvPr/>
        </p:nvSpPr>
        <p:spPr>
          <a:xfrm>
            <a:off x="6400799" y="1188719"/>
            <a:ext cx="2103122" cy="150876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9"/>
          <p:cNvSpPr txBox="1"/>
          <p:nvPr/>
        </p:nvSpPr>
        <p:spPr>
          <a:xfrm>
            <a:off x="6492240" y="1701800"/>
            <a:ext cx="192024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Nutrition &amp; Lifestyle</a:t>
            </a:r>
          </a:p>
          <a:p>
            <a:pPr>
              <a:defRPr sz="900">
                <a:solidFill>
                  <a:srgbClr val="7A7A7A"/>
                </a:solidFill>
              </a:defRPr>
            </a:pPr>
            <a:r>
              <a:t>BFY</a:t>
            </a:r>
            <a:endParaRPr sz="1200"/>
          </a:p>
          <a:p>
            <a:pPr>
              <a:defRPr b="1" sz="1000">
                <a:solidFill>
                  <a:srgbClr val="B7894F"/>
                </a:solidFill>
              </a:defRPr>
            </a:pPr>
            <a:r>
              <a:t>Explore →</a:t>
            </a:r>
          </a:p>
        </p:txBody>
      </p:sp>
      <p:sp>
        <p:nvSpPr>
          <p:cNvPr id="102" name="Shape 10"/>
          <p:cNvSpPr/>
          <p:nvPr/>
        </p:nvSpPr>
        <p:spPr>
          <a:xfrm>
            <a:off x="457199" y="2880360"/>
            <a:ext cx="1737362" cy="1508761"/>
          </a:xfrm>
          <a:prstGeom prst="rect">
            <a:avLst/>
          </a:prstGeom>
          <a:solidFill>
            <a:srgbClr val="C9D3BC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11"/>
          <p:cNvSpPr txBox="1"/>
          <p:nvPr/>
        </p:nvSpPr>
        <p:spPr>
          <a:xfrm>
            <a:off x="594359" y="3354069"/>
            <a:ext cx="146304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Still pond or sunlit forest floor</a:t>
            </a:r>
          </a:p>
        </p:txBody>
      </p:sp>
      <p:sp>
        <p:nvSpPr>
          <p:cNvPr id="104" name="Shape 12"/>
          <p:cNvSpPr/>
          <p:nvPr/>
        </p:nvSpPr>
        <p:spPr>
          <a:xfrm>
            <a:off x="2194559" y="2880360"/>
            <a:ext cx="2103122" cy="150876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3"/>
          <p:cNvSpPr txBox="1"/>
          <p:nvPr/>
        </p:nvSpPr>
        <p:spPr>
          <a:xfrm>
            <a:off x="2286000" y="3304540"/>
            <a:ext cx="192024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Transcendental Meditation</a:t>
            </a:r>
          </a:p>
          <a:p>
            <a:pPr>
              <a:defRPr sz="900">
                <a:solidFill>
                  <a:srgbClr val="7A7A7A"/>
                </a:solidFill>
              </a:defRPr>
            </a:pPr>
            <a:r>
              <a:t>Signature offering</a:t>
            </a:r>
            <a:endParaRPr sz="1200"/>
          </a:p>
          <a:p>
            <a:pPr>
              <a:defRPr b="1" sz="1000">
                <a:solidFill>
                  <a:srgbClr val="B7894F"/>
                </a:solidFill>
              </a:defRPr>
            </a:pPr>
            <a:r>
              <a:t>Explore →</a:t>
            </a:r>
          </a:p>
        </p:txBody>
      </p:sp>
      <p:sp>
        <p:nvSpPr>
          <p:cNvPr id="106" name="Shape 14"/>
          <p:cNvSpPr/>
          <p:nvPr/>
        </p:nvSpPr>
        <p:spPr>
          <a:xfrm>
            <a:off x="4663440" y="2880360"/>
            <a:ext cx="1737361" cy="1508761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5"/>
          <p:cNvSpPr txBox="1"/>
          <p:nvPr/>
        </p:nvSpPr>
        <p:spPr>
          <a:xfrm>
            <a:off x="4800599" y="3354069"/>
            <a:ext cx="146304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Two chairs under a tree, or an open trail</a:t>
            </a:r>
          </a:p>
        </p:txBody>
      </p:sp>
      <p:sp>
        <p:nvSpPr>
          <p:cNvPr id="108" name="Shape 16"/>
          <p:cNvSpPr/>
          <p:nvPr/>
        </p:nvSpPr>
        <p:spPr>
          <a:xfrm>
            <a:off x="6400799" y="2880360"/>
            <a:ext cx="2103122" cy="1508761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7"/>
          <p:cNvSpPr txBox="1"/>
          <p:nvPr/>
        </p:nvSpPr>
        <p:spPr>
          <a:xfrm>
            <a:off x="6492240" y="3393439"/>
            <a:ext cx="192024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Coaching &amp; Guidance</a:t>
            </a:r>
          </a:p>
          <a:p>
            <a:pPr>
              <a:defRPr sz="900">
                <a:solidFill>
                  <a:srgbClr val="7A7A7A"/>
                </a:solidFill>
              </a:defRPr>
            </a:pPr>
            <a:r>
              <a:t>Jack Canfield</a:t>
            </a:r>
            <a:endParaRPr sz="1200"/>
          </a:p>
          <a:p>
            <a:pPr>
              <a:defRPr b="1" sz="1000">
                <a:solidFill>
                  <a:srgbClr val="B7894F"/>
                </a:solidFill>
              </a:defRPr>
            </a:pPr>
            <a:r>
              <a:t>Explore →</a:t>
            </a:r>
          </a:p>
        </p:txBody>
      </p:sp>
      <p:sp>
        <p:nvSpPr>
          <p:cNvPr id="110" name="Text 18"/>
          <p:cNvSpPr txBox="1"/>
          <p:nvPr/>
        </p:nvSpPr>
        <p:spPr>
          <a:xfrm>
            <a:off x="457200" y="471805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5A5A"/>
                </a:solidFill>
              </a:defRPr>
            </a:lvl1pPr>
          </a:lstStyle>
          <a:p>
            <a:pPr/>
            <a:r>
              <a:t>Say: "Titles scroll to the homepage summary, and Explore opens that exact section on The Approach page."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 txBox="1"/>
          <p:nvPr/>
        </p:nvSpPr>
        <p:spPr>
          <a:xfrm>
            <a:off x="457200" y="26035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B7894F"/>
                </a:solidFill>
              </a:defRPr>
            </a:lvl1pPr>
          </a:lstStyle>
          <a:p>
            <a:pPr/>
            <a:r>
              <a:t>5 · SIGNATURE OFFERING</a:t>
            </a:r>
          </a:p>
        </p:txBody>
      </p:sp>
      <p:sp>
        <p:nvSpPr>
          <p:cNvPr id="113" name="Text 1"/>
          <p:cNvSpPr txBox="1"/>
          <p:nvPr/>
        </p:nvSpPr>
        <p:spPr>
          <a:xfrm>
            <a:off x="457200" y="560069"/>
            <a:ext cx="8229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Deepen: TM, heritage and numbers</a:t>
            </a:r>
          </a:p>
        </p:txBody>
      </p:sp>
      <p:sp>
        <p:nvSpPr>
          <p:cNvPr id="114" name="Shape 2"/>
          <p:cNvSpPr/>
          <p:nvPr/>
        </p:nvSpPr>
        <p:spPr>
          <a:xfrm>
            <a:off x="457200" y="1188720"/>
            <a:ext cx="3840480" cy="2011679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3"/>
          <p:cNvSpPr txBox="1"/>
          <p:nvPr/>
        </p:nvSpPr>
        <p:spPr>
          <a:xfrm>
            <a:off x="594360" y="1913890"/>
            <a:ext cx="35661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Ganga or Himalaya at dawn for heritage, still water behind the stats</a:t>
            </a:r>
          </a:p>
        </p:txBody>
      </p:sp>
      <p:sp>
        <p:nvSpPr>
          <p:cNvPr id="116" name="Text 4"/>
          <p:cNvSpPr txBox="1"/>
          <p:nvPr/>
        </p:nvSpPr>
        <p:spPr>
          <a:xfrm>
            <a:off x="4572000" y="1188720"/>
            <a:ext cx="41148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You do not need to empty your mind.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TM is effortless: 20 minutes, twice a day. Heritage, quote and stats stay compact in one section, not separate full-screen folds.</a:t>
            </a:r>
          </a:p>
        </p:txBody>
      </p:sp>
      <p:sp>
        <p:nvSpPr>
          <p:cNvPr id="117" name="Shape 5"/>
          <p:cNvSpPr/>
          <p:nvPr/>
        </p:nvSpPr>
        <p:spPr>
          <a:xfrm>
            <a:off x="457199" y="3383279"/>
            <a:ext cx="1965962" cy="10058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6"/>
          <p:cNvSpPr txBox="1"/>
          <p:nvPr/>
        </p:nvSpPr>
        <p:spPr>
          <a:xfrm>
            <a:off x="457199" y="3632199"/>
            <a:ext cx="19659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10M+</a:t>
            </a:r>
          </a:p>
          <a:p>
            <a:pPr algn="ctr">
              <a:defRPr sz="1000">
                <a:solidFill>
                  <a:srgbClr val="A8B89A"/>
                </a:solidFill>
              </a:defRPr>
            </a:pPr>
            <a:r>
              <a:t>people learned TM</a:t>
            </a:r>
          </a:p>
        </p:txBody>
      </p:sp>
      <p:sp>
        <p:nvSpPr>
          <p:cNvPr id="119" name="Shape 7"/>
          <p:cNvSpPr/>
          <p:nvPr/>
        </p:nvSpPr>
        <p:spPr>
          <a:xfrm>
            <a:off x="2560320" y="3383279"/>
            <a:ext cx="1965961" cy="10058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8"/>
          <p:cNvSpPr txBox="1"/>
          <p:nvPr/>
        </p:nvSpPr>
        <p:spPr>
          <a:xfrm>
            <a:off x="2560320" y="3632199"/>
            <a:ext cx="19659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100+</a:t>
            </a:r>
          </a:p>
          <a:p>
            <a:pPr algn="ctr">
              <a:defRPr sz="1000">
                <a:solidFill>
                  <a:srgbClr val="A8B89A"/>
                </a:solidFill>
              </a:defRPr>
            </a:pPr>
            <a:r>
              <a:t>countries</a:t>
            </a:r>
          </a:p>
        </p:txBody>
      </p:sp>
      <p:sp>
        <p:nvSpPr>
          <p:cNvPr id="121" name="Shape 9"/>
          <p:cNvSpPr/>
          <p:nvPr/>
        </p:nvSpPr>
        <p:spPr>
          <a:xfrm>
            <a:off x="4663440" y="3383279"/>
            <a:ext cx="1965961" cy="10058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0"/>
          <p:cNvSpPr txBox="1"/>
          <p:nvPr/>
        </p:nvSpPr>
        <p:spPr>
          <a:xfrm>
            <a:off x="4663440" y="3632199"/>
            <a:ext cx="19659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480+</a:t>
            </a:r>
          </a:p>
          <a:p>
            <a:pPr algn="ctr">
              <a:defRPr sz="1000">
                <a:solidFill>
                  <a:srgbClr val="A8B89A"/>
                </a:solidFill>
              </a:defRPr>
            </a:pPr>
            <a:r>
              <a:t>peer-reviewed studies</a:t>
            </a:r>
          </a:p>
        </p:txBody>
      </p:sp>
      <p:sp>
        <p:nvSpPr>
          <p:cNvPr id="123" name="Shape 11"/>
          <p:cNvSpPr/>
          <p:nvPr/>
        </p:nvSpPr>
        <p:spPr>
          <a:xfrm>
            <a:off x="6766559" y="3383279"/>
            <a:ext cx="1965961" cy="10058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2"/>
          <p:cNvSpPr txBox="1"/>
          <p:nvPr/>
        </p:nvSpPr>
        <p:spPr>
          <a:xfrm>
            <a:off x="6766559" y="3632199"/>
            <a:ext cx="19659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50+</a:t>
            </a:r>
          </a:p>
          <a:p>
            <a:pPr algn="ctr">
              <a:defRPr sz="1000">
                <a:solidFill>
                  <a:srgbClr val="A8B89A"/>
                </a:solidFill>
              </a:defRPr>
            </a:pPr>
            <a:r>
              <a:t>years of study</a:t>
            </a:r>
          </a:p>
        </p:txBody>
      </p:sp>
      <p:sp>
        <p:nvSpPr>
          <p:cNvPr id="125" name="Text 13"/>
          <p:cNvSpPr txBox="1"/>
          <p:nvPr/>
        </p:nvSpPr>
        <p:spPr>
          <a:xfrm>
            <a:off x="457200" y="471805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5A5A"/>
                </a:solidFill>
              </a:defRPr>
            </a:lvl1pPr>
          </a:lstStyle>
          <a:p>
            <a:pPr/>
            <a:r>
              <a:t>Say: "TM is her signature, so it gets the most space. The dedicated TM page goes deeper."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457200" y="26035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B7894F"/>
                </a:solidFill>
              </a:defRPr>
            </a:lvl1pPr>
          </a:lstStyle>
          <a:p>
            <a:pPr/>
            <a:r>
              <a:t>6 · THE CLOSE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457200" y="560069"/>
            <a:ext cx="8229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Connect: about, contact and footer</a:t>
            </a:r>
          </a:p>
        </p:txBody>
      </p:sp>
      <p:sp>
        <p:nvSpPr>
          <p:cNvPr id="129" name="Shape 2"/>
          <p:cNvSpPr/>
          <p:nvPr/>
        </p:nvSpPr>
        <p:spPr>
          <a:xfrm>
            <a:off x="457199" y="1188719"/>
            <a:ext cx="2560322" cy="2194561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3"/>
          <p:cNvSpPr txBox="1"/>
          <p:nvPr/>
        </p:nvSpPr>
        <p:spPr>
          <a:xfrm>
            <a:off x="594360" y="2005329"/>
            <a:ext cx="228600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Natural portrait of her outdoors among trees</a:t>
            </a:r>
          </a:p>
        </p:txBody>
      </p:sp>
      <p:sp>
        <p:nvSpPr>
          <p:cNvPr id="131" name="Text 4"/>
          <p:cNvSpPr txBox="1"/>
          <p:nvPr/>
        </p:nvSpPr>
        <p:spPr>
          <a:xfrm>
            <a:off x="457199" y="3582670"/>
            <a:ext cx="2560322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About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Twenty years of corporate India plus a lifelong yogic practice. Knight Frank India testimonial, then More About Me →</a:t>
            </a:r>
          </a:p>
        </p:txBody>
      </p:sp>
      <p:sp>
        <p:nvSpPr>
          <p:cNvPr id="132" name="Shape 5"/>
          <p:cNvSpPr/>
          <p:nvPr/>
        </p:nvSpPr>
        <p:spPr>
          <a:xfrm>
            <a:off x="3291840" y="1188719"/>
            <a:ext cx="2560321" cy="2194561"/>
          </a:xfrm>
          <a:prstGeom prst="rect">
            <a:avLst/>
          </a:prstGeom>
          <a:solidFill>
            <a:srgbClr val="C9D3BC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6"/>
          <p:cNvSpPr txBox="1"/>
          <p:nvPr/>
        </p:nvSpPr>
        <p:spPr>
          <a:xfrm>
            <a:off x="3428999" y="2005329"/>
            <a:ext cx="22860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Soft low-contrast forest in morning light behind the form</a:t>
            </a:r>
          </a:p>
        </p:txBody>
      </p:sp>
      <p:sp>
        <p:nvSpPr>
          <p:cNvPr id="134" name="Text 7"/>
          <p:cNvSpPr txBox="1"/>
          <p:nvPr/>
        </p:nvSpPr>
        <p:spPr>
          <a:xfrm>
            <a:off x="3291840" y="3665220"/>
            <a:ext cx="256032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Let's Talk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Name · Email · Mobile · Message, then Send Enquiry. A simple thank-you confirms.</a:t>
            </a:r>
          </a:p>
        </p:txBody>
      </p:sp>
      <p:sp>
        <p:nvSpPr>
          <p:cNvPr id="135" name="Shape 8"/>
          <p:cNvSpPr/>
          <p:nvPr/>
        </p:nvSpPr>
        <p:spPr>
          <a:xfrm>
            <a:off x="6126479" y="1188719"/>
            <a:ext cx="2560321" cy="2194561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9"/>
          <p:cNvSpPr txBox="1"/>
          <p:nvPr/>
        </p:nvSpPr>
        <p:spPr>
          <a:xfrm>
            <a:off x="6263640" y="1790699"/>
            <a:ext cx="22860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F6F1E7"/>
                </a:solidFill>
              </a:defRPr>
            </a:pPr>
            <a:r>
              <a:t>Chandan Mehta Wellbeing</a:t>
            </a:r>
          </a:p>
          <a:p>
            <a:pPr>
              <a:defRPr sz="1000">
                <a:solidFill>
                  <a:srgbClr val="F6F1E7"/>
                </a:solidFill>
              </a:defRPr>
            </a:pPr>
            <a:r>
              <a:t>Mumbai, India</a:t>
            </a:r>
          </a:p>
          <a:p>
            <a:pPr>
              <a:defRPr sz="1000">
                <a:solidFill>
                  <a:srgbClr val="F6F1E7"/>
                </a:solidFill>
              </a:defRPr>
            </a:pPr>
            <a:r>
              <a:t>Email</a:t>
            </a:r>
          </a:p>
          <a:p>
            <a:pPr>
              <a:defRPr sz="1000">
                <a:solidFill>
                  <a:srgbClr val="F6F1E7"/>
                </a:solidFill>
              </a:defRPr>
            </a:pPr>
            <a:r>
              <a:t>LinkedIn (text link only)</a:t>
            </a:r>
          </a:p>
          <a:p>
            <a:pPr>
              <a:defRPr sz="1000">
                <a:solidFill>
                  <a:srgbClr val="F6F1E7"/>
                </a:solidFill>
              </a:defRPr>
            </a:pPr>
            <a:r>
              <a:t>Copyright · Privacy Policy</a:t>
            </a:r>
          </a:p>
          <a:p>
            <a:pPr>
              <a:defRPr sz="1000">
                <a:solidFill>
                  <a:srgbClr val="F6F1E7"/>
                </a:solidFill>
              </a:defRPr>
            </a:pPr>
            <a:r>
              <a:t>Wellbeing disclaimer</a:t>
            </a:r>
          </a:p>
        </p:txBody>
      </p:sp>
      <p:sp>
        <p:nvSpPr>
          <p:cNvPr id="137" name="Text 10"/>
          <p:cNvSpPr txBox="1"/>
          <p:nvPr/>
        </p:nvSpPr>
        <p:spPr>
          <a:xfrm>
            <a:off x="6126479" y="3665220"/>
            <a:ext cx="256032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Footer</a:t>
            </a:r>
          </a:p>
          <a:p>
            <a:pPr>
              <a:defRPr sz="1100">
                <a:solidFill>
                  <a:srgbClr val="2B2B2B"/>
                </a:solidFill>
              </a:defRPr>
            </a:pPr>
            <a:r>
              <a:t>Contact details, a clean LinkedIn link and the medical disclaimer.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 txBox="1"/>
          <p:nvPr/>
        </p:nvSpPr>
        <p:spPr>
          <a:xfrm>
            <a:off x="457200" y="26035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B7894F"/>
                </a:solidFill>
              </a:defRPr>
            </a:lvl1pPr>
          </a:lstStyle>
          <a:p>
            <a:pPr/>
            <a:r>
              <a:t>3 · THREE FULL-WIDTH SECTIONS</a:t>
            </a:r>
          </a:p>
        </p:txBody>
      </p:sp>
      <p:sp>
        <p:nvSpPr>
          <p:cNvPr id="140" name="Text 1"/>
          <p:cNvSpPr txBox="1"/>
          <p:nvPr/>
        </p:nvSpPr>
        <p:spPr>
          <a:xfrm>
            <a:off x="457200" y="560069"/>
            <a:ext cx="8229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we can work together</a:t>
            </a:r>
          </a:p>
        </p:txBody>
      </p:sp>
      <p:sp>
        <p:nvSpPr>
          <p:cNvPr id="141" name="Shape 2"/>
          <p:cNvSpPr/>
          <p:nvPr/>
        </p:nvSpPr>
        <p:spPr>
          <a:xfrm>
            <a:off x="457200" y="1188719"/>
            <a:ext cx="2651761" cy="1097281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3"/>
          <p:cNvSpPr txBox="1"/>
          <p:nvPr/>
        </p:nvSpPr>
        <p:spPr>
          <a:xfrm>
            <a:off x="594359" y="1539240"/>
            <a:ext cx="23774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Tree root system</a:t>
            </a:r>
          </a:p>
        </p:txBody>
      </p:sp>
      <p:sp>
        <p:nvSpPr>
          <p:cNvPr id="143" name="Shape 4"/>
          <p:cNvSpPr/>
          <p:nvPr/>
        </p:nvSpPr>
        <p:spPr>
          <a:xfrm>
            <a:off x="457200" y="2286000"/>
            <a:ext cx="2651761" cy="1005839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5"/>
          <p:cNvSpPr txBox="1"/>
          <p:nvPr/>
        </p:nvSpPr>
        <p:spPr>
          <a:xfrm>
            <a:off x="548639" y="2331720"/>
            <a:ext cx="246888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Strategic Wellbeing Partnership</a:t>
            </a:r>
          </a:p>
          <a:p>
            <a:pPr defTabSz="457200">
              <a:defRPr sz="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Let wellbeing take root in your organisation or space, and grow into the way you live and work. I walk alongside your leadership, from vision to delivery, until it all comes together as one</a:t>
            </a:r>
          </a:p>
        </p:txBody>
      </p:sp>
      <p:sp>
        <p:nvSpPr>
          <p:cNvPr id="145" name="Shape 6"/>
          <p:cNvSpPr/>
          <p:nvPr/>
        </p:nvSpPr>
        <p:spPr>
          <a:xfrm>
            <a:off x="3246120" y="1188719"/>
            <a:ext cx="2651761" cy="1097281"/>
          </a:xfrm>
          <a:prstGeom prst="rect">
            <a:avLst/>
          </a:prstGeom>
          <a:solidFill>
            <a:srgbClr val="C9D3BC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7"/>
          <p:cNvSpPr txBox="1"/>
          <p:nvPr/>
        </p:nvSpPr>
        <p:spPr>
          <a:xfrm>
            <a:off x="3383279" y="1539240"/>
            <a:ext cx="23774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Branches reaching up</a:t>
            </a:r>
          </a:p>
        </p:txBody>
      </p:sp>
      <p:sp>
        <p:nvSpPr>
          <p:cNvPr id="147" name="Shape 8"/>
          <p:cNvSpPr/>
          <p:nvPr/>
        </p:nvSpPr>
        <p:spPr>
          <a:xfrm>
            <a:off x="3246120" y="2286000"/>
            <a:ext cx="2651761" cy="1005839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9"/>
          <p:cNvSpPr txBox="1"/>
          <p:nvPr/>
        </p:nvSpPr>
        <p:spPr>
          <a:xfrm>
            <a:off x="3337559" y="2446020"/>
            <a:ext cx="246888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Curated Wellbeing Engagement</a:t>
            </a:r>
          </a:p>
          <a:p>
            <a:pPr>
              <a:defRPr sz="1000">
                <a:solidFill>
                  <a:srgbClr val="2B2B2B"/>
                </a:solidFill>
              </a:defRPr>
            </a:pPr>
            <a:r>
              <a:t>From a single session to a programme or retreat, shaped around the people.</a:t>
            </a:r>
          </a:p>
        </p:txBody>
      </p:sp>
      <p:sp>
        <p:nvSpPr>
          <p:cNvPr id="149" name="Shape 10"/>
          <p:cNvSpPr/>
          <p:nvPr/>
        </p:nvSpPr>
        <p:spPr>
          <a:xfrm>
            <a:off x="6035040" y="1188719"/>
            <a:ext cx="2651761" cy="1097281"/>
          </a:xfrm>
          <a:prstGeom prst="rect">
            <a:avLst/>
          </a:prstGeom>
          <a:solidFill>
            <a:srgbClr val="A8B89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11"/>
          <p:cNvSpPr txBox="1"/>
          <p:nvPr/>
        </p:nvSpPr>
        <p:spPr>
          <a:xfrm>
            <a:off x="6172200" y="1539240"/>
            <a:ext cx="237744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F3D2B"/>
                </a:solidFill>
              </a:defRPr>
            </a:pPr>
            <a:r>
              <a:t>PHOTO</a:t>
            </a:r>
          </a:p>
          <a:p>
            <a:pPr algn="ctr">
              <a:defRPr i="1" sz="1000">
                <a:solidFill>
                  <a:srgbClr val="1F3D2B"/>
                </a:solidFill>
              </a:defRPr>
            </a:pPr>
            <a:r>
              <a:t>Single leaf with dew</a:t>
            </a:r>
          </a:p>
        </p:txBody>
      </p:sp>
      <p:sp>
        <p:nvSpPr>
          <p:cNvPr id="151" name="Shape 12"/>
          <p:cNvSpPr/>
          <p:nvPr/>
        </p:nvSpPr>
        <p:spPr>
          <a:xfrm>
            <a:off x="6035040" y="2286000"/>
            <a:ext cx="2651761" cy="1005839"/>
          </a:xfrm>
          <a:prstGeom prst="rect">
            <a:avLst/>
          </a:prstGeom>
          <a:solidFill>
            <a:srgbClr val="FFFFFF"/>
          </a:solidFill>
          <a:ln w="12700">
            <a:solidFill>
              <a:srgbClr val="A8B8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13"/>
          <p:cNvSpPr txBox="1"/>
          <p:nvPr/>
        </p:nvSpPr>
        <p:spPr>
          <a:xfrm>
            <a:off x="6126479" y="2534920"/>
            <a:ext cx="24688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Personal Wellbeing Journey</a:t>
            </a:r>
          </a:p>
          <a:p>
            <a:pPr>
              <a:defRPr sz="1000">
                <a:solidFill>
                  <a:srgbClr val="2B2B2B"/>
                </a:solidFill>
              </a:defRPr>
            </a:pPr>
            <a:r>
              <a:t>12 sessions across four months, personally guided.</a:t>
            </a:r>
          </a:p>
        </p:txBody>
      </p:sp>
      <p:sp>
        <p:nvSpPr>
          <p:cNvPr id="153" name="Text 14"/>
          <p:cNvSpPr txBox="1"/>
          <p:nvPr/>
        </p:nvSpPr>
        <p:spPr>
          <a:xfrm>
            <a:off x="457200" y="3460750"/>
            <a:ext cx="3657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B7894F"/>
                </a:solidFill>
              </a:defRPr>
            </a:lvl1pPr>
          </a:lstStyle>
          <a:p>
            <a:pPr/>
            <a:r>
              <a:t>How the partnership unfolds</a:t>
            </a:r>
          </a:p>
        </p:txBody>
      </p:sp>
      <p:sp>
        <p:nvSpPr>
          <p:cNvPr id="154" name="Shape 15"/>
          <p:cNvSpPr/>
          <p:nvPr/>
        </p:nvSpPr>
        <p:spPr>
          <a:xfrm>
            <a:off x="457200" y="3703320"/>
            <a:ext cx="1298448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16"/>
          <p:cNvSpPr txBox="1"/>
          <p:nvPr/>
        </p:nvSpPr>
        <p:spPr>
          <a:xfrm>
            <a:off x="457200" y="3816350"/>
            <a:ext cx="129844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UNDERSTAND</a:t>
            </a:r>
          </a:p>
        </p:txBody>
      </p:sp>
      <p:sp>
        <p:nvSpPr>
          <p:cNvPr id="156" name="Shape 17"/>
          <p:cNvSpPr/>
          <p:nvPr/>
        </p:nvSpPr>
        <p:spPr>
          <a:xfrm>
            <a:off x="1847088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8"/>
          <p:cNvSpPr txBox="1"/>
          <p:nvPr/>
        </p:nvSpPr>
        <p:spPr>
          <a:xfrm>
            <a:off x="1847088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ARCHITECT</a:t>
            </a:r>
          </a:p>
        </p:txBody>
      </p:sp>
      <p:sp>
        <p:nvSpPr>
          <p:cNvPr id="158" name="Shape 19"/>
          <p:cNvSpPr/>
          <p:nvPr/>
        </p:nvSpPr>
        <p:spPr>
          <a:xfrm>
            <a:off x="3236976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20"/>
          <p:cNvSpPr txBox="1"/>
          <p:nvPr/>
        </p:nvSpPr>
        <p:spPr>
          <a:xfrm>
            <a:off x="3236976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CURATE</a:t>
            </a:r>
          </a:p>
        </p:txBody>
      </p:sp>
      <p:sp>
        <p:nvSpPr>
          <p:cNvPr id="160" name="Shape 21"/>
          <p:cNvSpPr/>
          <p:nvPr/>
        </p:nvSpPr>
        <p:spPr>
          <a:xfrm>
            <a:off x="4626864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22"/>
          <p:cNvSpPr txBox="1"/>
          <p:nvPr/>
        </p:nvSpPr>
        <p:spPr>
          <a:xfrm>
            <a:off x="4626864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IMPLEMENT</a:t>
            </a:r>
          </a:p>
        </p:txBody>
      </p:sp>
      <p:sp>
        <p:nvSpPr>
          <p:cNvPr id="162" name="Shape 23"/>
          <p:cNvSpPr/>
          <p:nvPr/>
        </p:nvSpPr>
        <p:spPr>
          <a:xfrm>
            <a:off x="6016752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24"/>
          <p:cNvSpPr txBox="1"/>
          <p:nvPr/>
        </p:nvSpPr>
        <p:spPr>
          <a:xfrm>
            <a:off x="6016752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INTEGRATE</a:t>
            </a:r>
          </a:p>
        </p:txBody>
      </p:sp>
      <p:sp>
        <p:nvSpPr>
          <p:cNvPr id="164" name="Shape 25"/>
          <p:cNvSpPr/>
          <p:nvPr/>
        </p:nvSpPr>
        <p:spPr>
          <a:xfrm>
            <a:off x="7406640" y="3703320"/>
            <a:ext cx="1298449" cy="365761"/>
          </a:xfrm>
          <a:prstGeom prst="roundRect">
            <a:avLst>
              <a:gd name="adj" fmla="val 12500"/>
            </a:avLst>
          </a:prstGeom>
          <a:solidFill>
            <a:srgbClr val="1F3D2B"/>
          </a:solidFill>
          <a:ln w="12700">
            <a:solidFill>
              <a:srgbClr val="1F3D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26"/>
          <p:cNvSpPr txBox="1"/>
          <p:nvPr/>
        </p:nvSpPr>
        <p:spPr>
          <a:xfrm>
            <a:off x="7406640" y="3816350"/>
            <a:ext cx="129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6F1E7"/>
                </a:solidFill>
              </a:defRPr>
            </a:lvl1pPr>
          </a:lstStyle>
          <a:p>
            <a:pPr/>
            <a:r>
              <a:t>EVOLVE</a:t>
            </a:r>
          </a:p>
        </p:txBody>
      </p:sp>
      <p:sp>
        <p:nvSpPr>
          <p:cNvPr id="166" name="Text 27"/>
          <p:cNvSpPr txBox="1"/>
          <p:nvPr/>
        </p:nvSpPr>
        <p:spPr>
          <a:xfrm>
            <a:off x="457200" y="471805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5A5A"/>
                </a:solidFill>
              </a:defRPr>
            </a:lvl1pPr>
          </a:lstStyle>
          <a:p>
            <a:pPr/>
            <a:r>
              <a:t>Say: "Each tile scrolls to its own full-width section. Testimonials sit right after the claim they support, and all copy stays visible."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